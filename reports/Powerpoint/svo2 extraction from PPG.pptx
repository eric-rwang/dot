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58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A5DA927-6550-5E4B-A838-16D74FB7FBA3}">
          <p14:sldIdLst>
            <p14:sldId id="257"/>
            <p14:sldId id="258"/>
            <p14:sldId id="260"/>
            <p14:sldId id="261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14F68FA-F1ED-1B3B-D64E-ED2FCB2902D1}" name="Eric Wang" initials="" userId="S::Cobcannon123@xngx0.onmicrosoft.com::1521dce6-0714-4197-ac1f-3c3e943cda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B8F6"/>
    <a:srgbClr val="52DFE8"/>
    <a:srgbClr val="CEF2F2"/>
    <a:srgbClr val="FFFFFF"/>
    <a:srgbClr val="CD5400"/>
    <a:srgbClr val="000000"/>
    <a:srgbClr val="FFBF1C"/>
    <a:srgbClr val="0070C0"/>
    <a:srgbClr val="FF0000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41" autoAdjust="0"/>
    <p:restoredTop sz="78356" autoAdjust="0"/>
  </p:normalViewPr>
  <p:slideViewPr>
    <p:cSldViewPr snapToGrid="0">
      <p:cViewPr varScale="1">
        <p:scale>
          <a:sx n="101" d="100"/>
          <a:sy n="101" d="100"/>
        </p:scale>
        <p:origin x="104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23E9A-94C7-4801-999E-EBFC142D1F12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EA5F9-9969-4481-802A-EBD4A0D19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83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FEA5F9-9969-4481-802A-EBD4A0D19E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10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CC5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0"/>
            <a:ext cx="12192000" cy="338554"/>
          </a:xfrm>
          <a:prstGeom prst="rect">
            <a:avLst/>
          </a:prstGeom>
          <a:solidFill>
            <a:srgbClr val="CC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1200" y="3886200"/>
            <a:ext cx="10769600" cy="15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2200" i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</a:t>
            </a:r>
          </a:p>
          <a:p>
            <a:r>
              <a:rPr lang="en-US" dirty="0"/>
              <a:t>Month Year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838200"/>
            <a:ext cx="10363200" cy="1524000"/>
          </a:xfrm>
          <a:prstGeom prst="rect">
            <a:avLst/>
          </a:prstGeom>
        </p:spPr>
        <p:txBody>
          <a:bodyPr anchor="b" anchorCtr="1"/>
          <a:lstStyle>
            <a:lvl1pPr algn="ctr">
              <a:defRPr cap="small" spc="2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469578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3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65814" y="116632"/>
            <a:ext cx="10850325" cy="680706"/>
          </a:xfrm>
          <a:prstGeom prst="rect">
            <a:avLst/>
          </a:prstGeom>
        </p:spPr>
        <p:txBody>
          <a:bodyPr anchor="ctr">
            <a:norm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lvl1pPr marL="0" algn="l" defTabSz="914400" rtl="0" eaLnBrk="1" latinLnBrk="0" hangingPunct="1">
              <a:defRPr lang="en-US" sz="3600" i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24676-FBB2-446F-B15F-E9429ED2B04F}"/>
              </a:ext>
            </a:extLst>
          </p:cNvPr>
          <p:cNvSpPr txBox="1"/>
          <p:nvPr userDrawn="1"/>
        </p:nvSpPr>
        <p:spPr>
          <a:xfrm>
            <a:off x="11563376" y="5949281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6E54C117-469D-4028-AA7D-DD266D70AB56}" type="slidenum">
              <a:rPr lang="en-US" sz="1400" smtClean="0"/>
              <a:t>‹#›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61406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-359" y="6309360"/>
            <a:ext cx="12192000" cy="548640"/>
          </a:xfrm>
          <a:prstGeom prst="rect">
            <a:avLst/>
          </a:prstGeom>
          <a:solidFill>
            <a:srgbClr val="CC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22" name="Rectangle 21"/>
          <p:cNvSpPr/>
          <p:nvPr userDrawn="1"/>
        </p:nvSpPr>
        <p:spPr bwMode="auto">
          <a:xfrm>
            <a:off x="-4227" y="0"/>
            <a:ext cx="12192000" cy="914400"/>
          </a:xfrm>
          <a:prstGeom prst="rect">
            <a:avLst/>
          </a:prstGeom>
          <a:solidFill>
            <a:srgbClr val="CC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 userDrawn="1"/>
        </p:nvSpPr>
        <p:spPr bwMode="auto">
          <a:xfrm>
            <a:off x="647164" y="6382385"/>
            <a:ext cx="345457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i="1" dirty="0">
                <a:solidFill>
                  <a:srgbClr val="FFFFFF"/>
                </a:solidFill>
                <a:latin typeface="Candara" panose="020E0502030303020204" pitchFamily="34" charset="0"/>
                <a:ea typeface="SimSun" pitchFamily="2" charset="-122"/>
              </a:rPr>
              <a:t>nanshulu@utexas.edu</a:t>
            </a:r>
          </a:p>
        </p:txBody>
      </p:sp>
      <p:pic>
        <p:nvPicPr>
          <p:cNvPr id="10" name="Picture 4" descr="https://www.utexas.edu/sites/default/files/UMCSBanner4_2.jpeg">
            <a:extLst>
              <a:ext uri="{FF2B5EF4-FFF2-40B4-BE49-F238E27FC236}">
                <a16:creationId xmlns:a16="http://schemas.microsoft.com/office/drawing/2014/main" id="{B35B0886-CD36-4F5C-8493-406AE90AD29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clrChange>
              <a:clrFrom>
                <a:srgbClr val="BF5700"/>
              </a:clrFrom>
              <a:clrTo>
                <a:srgbClr val="BF57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40" t="28782" r="7236" b="15516"/>
          <a:stretch/>
        </p:blipFill>
        <p:spPr bwMode="auto">
          <a:xfrm>
            <a:off x="10234788" y="6229350"/>
            <a:ext cx="2000610" cy="70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818D127-1EF0-4AC4-99C2-540BBD2D919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7504" y="6444241"/>
            <a:ext cx="553384" cy="325520"/>
            <a:chOff x="142844" y="142852"/>
            <a:chExt cx="1214446" cy="714380"/>
          </a:xfrm>
        </p:grpSpPr>
        <p:sp>
          <p:nvSpPr>
            <p:cNvPr id="18" name="椭圆 4">
              <a:extLst>
                <a:ext uri="{FF2B5EF4-FFF2-40B4-BE49-F238E27FC236}">
                  <a16:creationId xmlns:a16="http://schemas.microsoft.com/office/drawing/2014/main" id="{1466A974-74F6-47EC-A540-E96A1E0393FF}"/>
                </a:ext>
              </a:extLst>
            </p:cNvPr>
            <p:cNvSpPr/>
            <p:nvPr/>
          </p:nvSpPr>
          <p:spPr>
            <a:xfrm>
              <a:off x="142844" y="142852"/>
              <a:ext cx="1214446" cy="7143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Picture 3" descr="C:\Users\nl5786\Dropbox\Lu Group\Shixuan&amp; Nanshu\Events\Group logo\Lu group logo.png">
              <a:extLst>
                <a:ext uri="{FF2B5EF4-FFF2-40B4-BE49-F238E27FC236}">
                  <a16:creationId xmlns:a16="http://schemas.microsoft.com/office/drawing/2014/main" id="{D4BBB51B-3B55-4368-B50B-79C836F4E3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88640"/>
              <a:ext cx="822960" cy="6172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13453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3333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33339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333399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333399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33339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33339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1D1A68-D2AC-7BC6-6B2D-15EE3D0C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is not enough plan</a:t>
            </a:r>
          </a:p>
        </p:txBody>
      </p:sp>
      <p:pic>
        <p:nvPicPr>
          <p:cNvPr id="1026" name="Picture 2" descr="More beers law also known as the beer lambert law or the...">
            <a:extLst>
              <a:ext uri="{FF2B5EF4-FFF2-40B4-BE49-F238E27FC236}">
                <a16:creationId xmlns:a16="http://schemas.microsoft.com/office/drawing/2014/main" id="{50FD99AE-7C45-AB90-2637-8055016ED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6"/>
          <a:stretch>
            <a:fillRect/>
          </a:stretch>
        </p:blipFill>
        <p:spPr bwMode="auto">
          <a:xfrm>
            <a:off x="485140" y="1840464"/>
            <a:ext cx="4445000" cy="266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89560A-0970-DFBA-F567-D4989600471D}"/>
                  </a:ext>
                </a:extLst>
              </p:cNvPr>
              <p:cNvSpPr txBox="1"/>
              <p:nvPr/>
            </p:nvSpPr>
            <p:spPr>
              <a:xfrm>
                <a:off x="1862503" y="4830751"/>
                <a:ext cx="1690271" cy="3132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489560A-0970-DFBA-F567-D49896004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2503" y="4830751"/>
                <a:ext cx="1690271" cy="313291"/>
              </a:xfrm>
              <a:prstGeom prst="rect">
                <a:avLst/>
              </a:prstGeom>
              <a:blipFill>
                <a:blip r:embed="rId4"/>
                <a:stretch>
                  <a:fillRect l="-2239" t="-3846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Modified Beer's Law – historical perspectives and relevance in  near-infrared monitoring of optical properties of human tissue -  ScienceDirect">
            <a:extLst>
              <a:ext uri="{FF2B5EF4-FFF2-40B4-BE49-F238E27FC236}">
                <a16:creationId xmlns:a16="http://schemas.microsoft.com/office/drawing/2014/main" id="{7D15EA0C-B1F6-9CB3-61B9-61A5765F6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9639" y="1916430"/>
            <a:ext cx="2590800" cy="269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EBF05D6-33C3-F648-7517-1C90D4901267}"/>
              </a:ext>
            </a:extLst>
          </p:cNvPr>
          <p:cNvSpPr txBox="1"/>
          <p:nvPr/>
        </p:nvSpPr>
        <p:spPr>
          <a:xfrm>
            <a:off x="1145353" y="1278910"/>
            <a:ext cx="3124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Beer Lambert Law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DED2A-D684-B84E-E609-E4C106F617E6}"/>
              </a:ext>
            </a:extLst>
          </p:cNvPr>
          <p:cNvSpPr txBox="1"/>
          <p:nvPr/>
        </p:nvSpPr>
        <p:spPr>
          <a:xfrm>
            <a:off x="6282584" y="1278910"/>
            <a:ext cx="45849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Modified Beer Lambert Law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44D80E-9241-4FEE-3B2C-A928E3E14244}"/>
                  </a:ext>
                </a:extLst>
              </p:cNvPr>
              <p:cNvSpPr txBox="1"/>
              <p:nvPr/>
            </p:nvSpPr>
            <p:spPr>
              <a:xfrm>
                <a:off x="7127365" y="4787926"/>
                <a:ext cx="2895344" cy="9015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 </m:t>
                      </m:r>
                      <m:nary>
                        <m:naryPr>
                          <m:limLoc m:val="undOvr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44D80E-9241-4FEE-3B2C-A928E3E14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7365" y="4787926"/>
                <a:ext cx="2895344" cy="901529"/>
              </a:xfrm>
              <a:prstGeom prst="rect">
                <a:avLst/>
              </a:prstGeom>
              <a:blipFill>
                <a:blip r:embed="rId6"/>
                <a:stretch>
                  <a:fillRect l="-3930" t="-127778" r="-873" b="-193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CEA3401-3131-BF24-DC02-4BD98C8CA055}"/>
              </a:ext>
            </a:extLst>
          </p:cNvPr>
          <p:cNvSpPr txBox="1"/>
          <p:nvPr/>
        </p:nvSpPr>
        <p:spPr>
          <a:xfrm>
            <a:off x="0" y="6100495"/>
            <a:ext cx="612267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Angelo Sassaroli and Sergio Fantini 2004 Phys. Med. Biol. 49 N255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B93AD-C91B-6682-8D83-74E6FED12970}"/>
                  </a:ext>
                </a:extLst>
              </p:cNvPr>
              <p:cNvSpPr txBox="1"/>
              <p:nvPr/>
            </p:nvSpPr>
            <p:spPr>
              <a:xfrm>
                <a:off x="6200455" y="5792718"/>
                <a:ext cx="47491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US" sz="1400" dirty="0"/>
                  <a:t> : Pathlength distribution of detected photons (no abs).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40B93AD-C91B-6682-8D83-74E6FED12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0455" y="5792718"/>
                <a:ext cx="4749165" cy="307777"/>
              </a:xfrm>
              <a:prstGeom prst="rect">
                <a:avLst/>
              </a:prstGeom>
              <a:blipFill>
                <a:blip r:embed="rId7"/>
                <a:stretch>
                  <a:fillRect t="-4000" r="-26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Left Brace 13">
            <a:extLst>
              <a:ext uri="{FF2B5EF4-FFF2-40B4-BE49-F238E27FC236}">
                <a16:creationId xmlns:a16="http://schemas.microsoft.com/office/drawing/2014/main" id="{31C43E71-2A8A-5E7A-2338-1F23F06B0A4F}"/>
              </a:ext>
            </a:extLst>
          </p:cNvPr>
          <p:cNvSpPr/>
          <p:nvPr/>
        </p:nvSpPr>
        <p:spPr bwMode="auto">
          <a:xfrm rot="16200000">
            <a:off x="3043910" y="4999977"/>
            <a:ext cx="215444" cy="661416"/>
          </a:xfrm>
          <a:prstGeom prst="lef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6B12B0-08E1-F0E6-AC77-D9370D4FB723}"/>
                  </a:ext>
                </a:extLst>
              </p:cNvPr>
              <p:cNvSpPr txBox="1"/>
              <p:nvPr/>
            </p:nvSpPr>
            <p:spPr>
              <a:xfrm>
                <a:off x="777049" y="5484941"/>
                <a:ext cx="474916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𝑎𝑏𝑠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𝑎𝑡𝑡𝑒𝑛𝑢𝑎𝑡𝑖𝑜𝑛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6B12B0-08E1-F0E6-AC77-D9370D4FB7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049" y="5484941"/>
                <a:ext cx="4749165" cy="307777"/>
              </a:xfrm>
              <a:prstGeom prst="rect">
                <a:avLst/>
              </a:prstGeom>
              <a:blipFill>
                <a:blip r:embed="rId8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80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477615-F722-08FE-DD35-A5C6C7DFA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Location dependent</a:t>
            </a:r>
          </a:p>
          <a:p>
            <a:pPr lvl="1"/>
            <a:r>
              <a:rPr lang="en-US" dirty="0"/>
              <a:t>Neck &amp; wrist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Arterial, venous, and muscle (tissue)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Forearm (vein only)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Venous and muscle (tissue)</a:t>
            </a:r>
          </a:p>
          <a:p>
            <a:pPr lvl="2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29FED6-DB5B-275F-CA6E-7303248C9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Multi-compartment MBLL</a:t>
            </a:r>
          </a:p>
        </p:txBody>
      </p:sp>
    </p:spTree>
    <p:extLst>
      <p:ext uri="{BB962C8B-B14F-4D97-AF65-F5344CB8AC3E}">
        <p14:creationId xmlns:p14="http://schemas.microsoft.com/office/powerpoint/2010/main" val="2031036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4FCD17-9D6B-4480-9424-69C95DE88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idea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3E2978-EFD6-8207-C2B3-3AD93770D223}"/>
              </a:ext>
            </a:extLst>
          </p:cNvPr>
          <p:cNvSpPr/>
          <p:nvPr/>
        </p:nvSpPr>
        <p:spPr bwMode="auto">
          <a:xfrm>
            <a:off x="2461260" y="1708070"/>
            <a:ext cx="2042160" cy="33855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Ultrasound of area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CF674-D70B-CD71-A84C-DDCFD438FB5B}"/>
              </a:ext>
            </a:extLst>
          </p:cNvPr>
          <p:cNvSpPr/>
          <p:nvPr/>
        </p:nvSpPr>
        <p:spPr bwMode="auto">
          <a:xfrm>
            <a:off x="5021580" y="1708070"/>
            <a:ext cx="2042160" cy="33855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Monte Carlo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F889A8-D521-5D93-9112-4FE505F6FA49}"/>
              </a:ext>
            </a:extLst>
          </p:cNvPr>
          <p:cNvSpPr/>
          <p:nvPr/>
        </p:nvSpPr>
        <p:spPr bwMode="auto">
          <a:xfrm>
            <a:off x="7581900" y="1584960"/>
            <a:ext cx="2042160" cy="58477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Compute mean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p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hoton pathlength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74A39-D06E-2567-9F3A-C328E5816E7B}"/>
              </a:ext>
            </a:extLst>
          </p:cNvPr>
          <p:cNvSpPr/>
          <p:nvPr/>
        </p:nvSpPr>
        <p:spPr bwMode="auto">
          <a:xfrm>
            <a:off x="3870961" y="4747474"/>
            <a:ext cx="2042160" cy="107721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Update guess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Levenberg–Marquardt algorithm</a:t>
            </a:r>
            <a:endParaRPr kumimoji="0" lang="en-US" sz="1600" b="1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E590A7-D62F-A476-0909-E2F2DFD064C2}"/>
              </a:ext>
            </a:extLst>
          </p:cNvPr>
          <p:cNvSpPr/>
          <p:nvPr/>
        </p:nvSpPr>
        <p:spPr bwMode="auto">
          <a:xfrm>
            <a:off x="2461260" y="3286670"/>
            <a:ext cx="2042160" cy="1077218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Using Mean Photon Pathlength -&gt; Expected I with MBLL equation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3DE372B-501A-C580-0F61-835E81907E3F}"/>
              </a:ext>
            </a:extLst>
          </p:cNvPr>
          <p:cNvSpPr/>
          <p:nvPr/>
        </p:nvSpPr>
        <p:spPr bwMode="auto">
          <a:xfrm>
            <a:off x="5170170" y="3532891"/>
            <a:ext cx="2042160" cy="58477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Optimize against collected sensor I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97C611-D5EF-683B-C332-5171C0B0DDF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 bwMode="auto">
          <a:xfrm>
            <a:off x="4503420" y="1877347"/>
            <a:ext cx="518160" cy="0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44738F-2283-2030-F49F-4210C99EC35A}"/>
              </a:ext>
            </a:extLst>
          </p:cNvPr>
          <p:cNvCxnSpPr>
            <a:cxnSpLocks/>
          </p:cNvCxnSpPr>
          <p:nvPr/>
        </p:nvCxnSpPr>
        <p:spPr bwMode="auto">
          <a:xfrm>
            <a:off x="7063740" y="1877347"/>
            <a:ext cx="518160" cy="0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7E78B695-B518-09C6-33B8-EEE3AEBF39DD}"/>
              </a:ext>
            </a:extLst>
          </p:cNvPr>
          <p:cNvCxnSpPr>
            <a:stCxn id="6" idx="2"/>
            <a:endCxn id="8" idx="0"/>
          </p:cNvCxnSpPr>
          <p:nvPr/>
        </p:nvCxnSpPr>
        <p:spPr bwMode="auto">
          <a:xfrm rot="5400000">
            <a:off x="5484193" y="167882"/>
            <a:ext cx="1116935" cy="5120640"/>
          </a:xfrm>
          <a:prstGeom prst="bentConnector3">
            <a:avLst>
              <a:gd name="adj1" fmla="val 29533"/>
            </a:avLst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AF13F47-E75C-F5F2-072C-457FA479EC3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 bwMode="auto">
          <a:xfrm>
            <a:off x="4503420" y="3825279"/>
            <a:ext cx="666750" cy="0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AED96AA-E1DC-C23B-0961-B14147E37D08}"/>
              </a:ext>
            </a:extLst>
          </p:cNvPr>
          <p:cNvCxnSpPr>
            <a:cxnSpLocks/>
            <a:stCxn id="9" idx="2"/>
            <a:endCxn id="7" idx="3"/>
          </p:cNvCxnSpPr>
          <p:nvPr/>
        </p:nvCxnSpPr>
        <p:spPr bwMode="auto">
          <a:xfrm rot="5400000">
            <a:off x="5467978" y="4562810"/>
            <a:ext cx="1168417" cy="278129"/>
          </a:xfrm>
          <a:prstGeom prst="bentConnector2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23287B01-AAA9-C653-21AE-85E5A1F5F740}"/>
              </a:ext>
            </a:extLst>
          </p:cNvPr>
          <p:cNvCxnSpPr>
            <a:cxnSpLocks/>
            <a:stCxn id="7" idx="1"/>
            <a:endCxn id="8" idx="2"/>
          </p:cNvCxnSpPr>
          <p:nvPr/>
        </p:nvCxnSpPr>
        <p:spPr bwMode="auto">
          <a:xfrm rot="10800000">
            <a:off x="3482341" y="4363889"/>
            <a:ext cx="388621" cy="922195"/>
          </a:xfrm>
          <a:prstGeom prst="bentConnector2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0B7BBD85-58DD-56D4-18F2-E72CF976C5B4}"/>
              </a:ext>
            </a:extLst>
          </p:cNvPr>
          <p:cNvSpPr/>
          <p:nvPr/>
        </p:nvSpPr>
        <p:spPr bwMode="auto">
          <a:xfrm>
            <a:off x="6934203" y="4963234"/>
            <a:ext cx="2042160" cy="58477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Sensor data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d</a:t>
            </a: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etected I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B5E3DD40-7D2B-63E8-2141-2F629A137730}"/>
              </a:ext>
            </a:extLst>
          </p:cNvPr>
          <p:cNvCxnSpPr>
            <a:cxnSpLocks/>
            <a:stCxn id="26" idx="1"/>
          </p:cNvCxnSpPr>
          <p:nvPr/>
        </p:nvCxnSpPr>
        <p:spPr bwMode="auto">
          <a:xfrm rot="10800000">
            <a:off x="6667503" y="4117666"/>
            <a:ext cx="266701" cy="1137956"/>
          </a:xfrm>
          <a:prstGeom prst="bentConnector2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13E5B55-3AAA-F15B-CEFF-000AAFA8BECB}"/>
              </a:ext>
            </a:extLst>
          </p:cNvPr>
          <p:cNvSpPr/>
          <p:nvPr/>
        </p:nvSpPr>
        <p:spPr bwMode="auto">
          <a:xfrm>
            <a:off x="8252460" y="3656002"/>
            <a:ext cx="2042160" cy="338554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Arial" charset="0"/>
              </a:rPr>
              <a:t>SvO2 value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E8A501E-7690-BBDE-258C-79B32184FD4C}"/>
              </a:ext>
            </a:extLst>
          </p:cNvPr>
          <p:cNvCxnSpPr>
            <a:cxnSpLocks/>
            <a:stCxn id="9" idx="3"/>
          </p:cNvCxnSpPr>
          <p:nvPr/>
        </p:nvCxnSpPr>
        <p:spPr bwMode="auto">
          <a:xfrm>
            <a:off x="7212330" y="3825279"/>
            <a:ext cx="1047750" cy="0"/>
          </a:xfrm>
          <a:prstGeom prst="straightConnector1">
            <a:avLst/>
          </a:prstGeom>
          <a:noFill/>
          <a:ln w="952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9F9AEA8E-7A4E-36D0-1B86-379EF4D83DAE}"/>
              </a:ext>
            </a:extLst>
          </p:cNvPr>
          <p:cNvSpPr/>
          <p:nvPr/>
        </p:nvSpPr>
        <p:spPr bwMode="auto">
          <a:xfrm>
            <a:off x="1751050" y="1250334"/>
            <a:ext cx="8749310" cy="1592580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DA2CF3E-31B6-B775-9AC7-6534938AD9BC}"/>
              </a:ext>
            </a:extLst>
          </p:cNvPr>
          <p:cNvSpPr txBox="1"/>
          <p:nvPr/>
        </p:nvSpPr>
        <p:spPr>
          <a:xfrm>
            <a:off x="8807169" y="2438065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Pre-computed</a:t>
            </a:r>
          </a:p>
        </p:txBody>
      </p:sp>
    </p:spTree>
    <p:extLst>
      <p:ext uri="{BB962C8B-B14F-4D97-AF65-F5344CB8AC3E}">
        <p14:creationId xmlns:p14="http://schemas.microsoft.com/office/powerpoint/2010/main" val="4150798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634FFF-A7E8-2A4A-DCBC-7382B044B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96753"/>
            <a:ext cx="5486400" cy="4525963"/>
          </a:xfrm>
        </p:spPr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AC - cardiac frequency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Both arterial and venous contributions</a:t>
            </a:r>
          </a:p>
          <a:p>
            <a:pPr lvl="1"/>
            <a:endParaRPr lang="en-US" sz="24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AC - respiration rate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Mostly venous contribution</a:t>
            </a:r>
          </a:p>
          <a:p>
            <a:endParaRPr lang="en-US" sz="2800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DC</a:t>
            </a:r>
          </a:p>
          <a:p>
            <a:pPr lvl="1"/>
            <a:r>
              <a:rPr lang="en-US" sz="2400" dirty="0">
                <a:solidFill>
                  <a:schemeClr val="tx1"/>
                </a:solidFill>
              </a:rPr>
              <a:t>Non-pulsatile artery and vein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9E8FCB6-6CD6-3DBE-F4C6-9B1334AE2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cases at each location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7760A7DD-C115-26C8-4E32-56B6F8EDBD89}"/>
              </a:ext>
            </a:extLst>
          </p:cNvPr>
          <p:cNvSpPr/>
          <p:nvPr/>
        </p:nvSpPr>
        <p:spPr bwMode="auto">
          <a:xfrm>
            <a:off x="5852160" y="1287780"/>
            <a:ext cx="536448" cy="4114800"/>
          </a:xfrm>
          <a:prstGeom prst="righ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6494DBD1-D5A0-14D2-EA52-0932580E95E0}"/>
              </a:ext>
            </a:extLst>
          </p:cNvPr>
          <p:cNvSpPr txBox="1">
            <a:spLocks/>
          </p:cNvSpPr>
          <p:nvPr/>
        </p:nvSpPr>
        <p:spPr>
          <a:xfrm>
            <a:off x="6705600" y="2426922"/>
            <a:ext cx="4876800" cy="183651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33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333399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333399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333399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33399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33399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33399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33399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333399"/>
                </a:solidFill>
                <a:latin typeface="+mn-lt"/>
              </a:defRPr>
            </a:lvl9pPr>
          </a:lstStyle>
          <a:p>
            <a:r>
              <a:rPr lang="en-US" sz="2400" kern="0" dirty="0">
                <a:solidFill>
                  <a:schemeClr val="tx1"/>
                </a:solidFill>
              </a:rPr>
              <a:t>optimize against each other</a:t>
            </a:r>
          </a:p>
        </p:txBody>
      </p:sp>
    </p:spTree>
    <p:extLst>
      <p:ext uri="{BB962C8B-B14F-4D97-AF65-F5344CB8AC3E}">
        <p14:creationId xmlns:p14="http://schemas.microsoft.com/office/powerpoint/2010/main" val="2770995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1E7C6E-814D-97C7-8CE3-6EE5BEEAB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 so far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BDDF0-B1B1-6921-9163-66190CA24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4640" y="1196340"/>
            <a:ext cx="3905250" cy="4686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6499E6-941E-A819-3EA2-493D95FFAD3A}"/>
              </a:ext>
            </a:extLst>
          </p:cNvPr>
          <p:cNvSpPr/>
          <p:nvPr/>
        </p:nvSpPr>
        <p:spPr bwMode="auto">
          <a:xfrm>
            <a:off x="982980" y="3162300"/>
            <a:ext cx="4549140" cy="24612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0F7F95-29D8-B2EA-2FE1-B0953B8AC878}"/>
              </a:ext>
            </a:extLst>
          </p:cNvPr>
          <p:cNvSpPr/>
          <p:nvPr/>
        </p:nvSpPr>
        <p:spPr bwMode="auto">
          <a:xfrm>
            <a:off x="3028950" y="2979420"/>
            <a:ext cx="457200" cy="182880"/>
          </a:xfrm>
          <a:prstGeom prst="rect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D768E0-6F45-A7AC-ACB2-2A487DB28DCB}"/>
              </a:ext>
            </a:extLst>
          </p:cNvPr>
          <p:cNvSpPr/>
          <p:nvPr/>
        </p:nvSpPr>
        <p:spPr bwMode="auto">
          <a:xfrm>
            <a:off x="3779520" y="2979420"/>
            <a:ext cx="457200" cy="182880"/>
          </a:xfrm>
          <a:prstGeom prst="rect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7011A9-CA56-6001-E64E-8E9D02A9995F}"/>
              </a:ext>
            </a:extLst>
          </p:cNvPr>
          <p:cNvSpPr/>
          <p:nvPr/>
        </p:nvSpPr>
        <p:spPr bwMode="auto">
          <a:xfrm>
            <a:off x="2278380" y="2979420"/>
            <a:ext cx="457200" cy="182880"/>
          </a:xfrm>
          <a:prstGeom prst="rect">
            <a:avLst/>
          </a:prstGeom>
          <a:noFill/>
          <a:ln w="9525" cap="flat" cmpd="sng" algn="ctr">
            <a:solidFill>
              <a:srgbClr val="333399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A4BFF-7027-64AE-EADC-ADD868B220A5}"/>
              </a:ext>
            </a:extLst>
          </p:cNvPr>
          <p:cNvSpPr txBox="1"/>
          <p:nvPr/>
        </p:nvSpPr>
        <p:spPr>
          <a:xfrm>
            <a:off x="2780496" y="254978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0.0 mm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508235-DE25-BEA9-DDB6-B1E3FE45DC77}"/>
              </a:ext>
            </a:extLst>
          </p:cNvPr>
          <p:cNvSpPr txBox="1"/>
          <p:nvPr/>
        </p:nvSpPr>
        <p:spPr>
          <a:xfrm>
            <a:off x="2357213" y="375600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-2.4 mm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DF5240C2-96FD-685F-1DCE-5DA0A1F7C2E3}"/>
              </a:ext>
            </a:extLst>
          </p:cNvPr>
          <p:cNvSpPr/>
          <p:nvPr/>
        </p:nvSpPr>
        <p:spPr bwMode="auto">
          <a:xfrm rot="16200000">
            <a:off x="2600717" y="3035058"/>
            <a:ext cx="544045" cy="777240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>
              <a:ln>
                <a:noFill/>
              </a:ln>
              <a:solidFill>
                <a:srgbClr val="333399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818100"/>
      </p:ext>
    </p:extLst>
  </p:cSld>
  <p:clrMapOvr>
    <a:masterClrMapping/>
  </p:clrMapOvr>
</p:sld>
</file>

<file path=ppt/theme/theme1.xml><?xml version="1.0" encoding="utf-8"?>
<a:theme xmlns:a="http://schemas.openxmlformats.org/drawingml/2006/main" name="1_Illinois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1_Illino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333399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333399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rgbClr val="333399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Illinoi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llinoi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llinoi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12380</TotalTime>
  <Words>153</Words>
  <Application>Microsoft Macintosh PowerPoint</Application>
  <PresentationFormat>Widescreen</PresentationFormat>
  <Paragraphs>42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Cambria Math</vt:lpstr>
      <vt:lpstr>Candara</vt:lpstr>
      <vt:lpstr>1_Illinois</vt:lpstr>
      <vt:lpstr>R is not enough plan</vt:lpstr>
      <vt:lpstr>Multi-compartment MBLL</vt:lpstr>
      <vt:lpstr>The idea</vt:lpstr>
      <vt:lpstr>3 cases at each location</vt:lpstr>
      <vt:lpstr>Simulation results so far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Lu, Nanshu</dc:creator>
  <cp:lastModifiedBy>Eric Wang</cp:lastModifiedBy>
  <cp:revision>1070</cp:revision>
  <dcterms:created xsi:type="dcterms:W3CDTF">2023-08-02T18:44:22Z</dcterms:created>
  <dcterms:modified xsi:type="dcterms:W3CDTF">2026-04-24T18:10:25Z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2023-11-14T05:38:47Z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a171291f-ab9d-4987-a144-0c130f18d7cf</vt:lpwstr>
  </property>
  <property fmtid="{D5CDD505-2E9C-101B-9397-08002B2CF9AE}" pid="7" name="MSIP_Label_defa4170-0d19-0005-0004-bc88714345d2_ActionId">
    <vt:lpwstr>4de6aef9-a536-4660-8e16-85dc1953732a</vt:lpwstr>
  </property>
  <property fmtid="{D5CDD505-2E9C-101B-9397-08002B2CF9AE}" pid="8" name="MSIP_Label_defa4170-0d19-0005-0004-bc88714345d2_ContentBits">
    <vt:lpwstr>0</vt:lpwstr>
  </property>
</Properties>
</file>